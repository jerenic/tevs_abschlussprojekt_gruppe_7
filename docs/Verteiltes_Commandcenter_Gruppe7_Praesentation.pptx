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245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1D4B7-E5CC-4180-BADE-3F8B254EF7F0}" type="datetimeFigureOut">
              <a:rPr lang="de-AT" smtClean="0"/>
              <a:t>08.06.2026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6B994-16BB-451D-B967-C60C51FBA2A9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888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6B994-16BB-451D-B967-C60C51FBA2A9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073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34095" y="3566160"/>
            <a:ext cx="5669280" cy="566928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1033272" y="850392"/>
            <a:ext cx="822959" cy="0"/>
          </a:xfrm>
          <a:prstGeom prst="line">
            <a:avLst/>
          </a:prstGeom>
          <a:ln w="17780">
            <a:solidFill>
              <a:srgbClr val="2C3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33272" y="850392"/>
            <a:ext cx="411480" cy="640080"/>
          </a:xfrm>
          <a:prstGeom prst="line">
            <a:avLst/>
          </a:prstGeom>
          <a:ln w="17780">
            <a:solidFill>
              <a:srgbClr val="2C3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444752" y="850392"/>
            <a:ext cx="411479" cy="640080"/>
          </a:xfrm>
          <a:prstGeom prst="line">
            <a:avLst/>
          </a:prstGeom>
          <a:ln w="17780">
            <a:solidFill>
              <a:srgbClr val="2C3B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60120" y="777240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83080" y="777240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1417320"/>
            <a:ext cx="146304" cy="1463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spc="260">
                <a:solidFill>
                  <a:srgbClr val="2DD4BF"/>
                </a:solidFill>
                <a:latin typeface="Segoe UI"/>
              </a:rPr>
              <a:t>TECHNOLOGIEN VERTEILTER SYSTEME  ·  ABSCHLUSSPROJEKT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8892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800" b="1" i="0">
                <a:solidFill>
                  <a:srgbClr val="F8FAFC"/>
                </a:solidFill>
                <a:latin typeface="Segoe UI"/>
              </a:rPr>
              <a:t>Verteiltes Commandcenter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 i="0">
                <a:solidFill>
                  <a:srgbClr val="D9DFEA"/>
                </a:solidFill>
                <a:latin typeface="Segoe UI"/>
              </a:rPr>
              <a:t>Ein replizierter Status-Store mit Bedienclient, Loadbalancer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D9DFEA"/>
                </a:solidFill>
                <a:latin typeface="Segoe UI"/>
              </a:rPr>
              <a:t>und interaktiver Kartenansicht – Fault-Tolerance selbst gebaut.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57800"/>
            <a:ext cx="64008" cy="71323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5230368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99F6E4"/>
                </a:solidFill>
                <a:latin typeface="Segoe UI"/>
              </a:rPr>
              <a:t>Gruppe 7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F8FAFC"/>
                </a:solidFill>
                <a:latin typeface="Segoe UI"/>
              </a:rPr>
              <a:t>Nicolas Haselbacher   ·   Jeremy Heißenberger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230368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Juni 2026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Abschlusspräsentation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ÜBERBLICK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02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1874519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203911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Aufgabe &amp; Ziel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Was soll das System können?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874519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3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203911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Architektur &amp; Kommunikation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Blockschaltbild &amp; Wege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3063239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331012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5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322783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Technologie-Stack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Womit wir gebaut haben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063239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0" y="331012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337559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322783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Datenmodell &amp; REST-API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Status-Objekt &amp; Endpunkte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4251960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05840" y="4498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5064" y="441655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Replikation &amp; Konsistenz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Push, Last-Writer-Wins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4224" y="4251960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83680" y="4498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526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441655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Fault-Tolerance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Failover, Retry, Bootstrapping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5440680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40" y="56875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7150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5064" y="560527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Sicherheit (TLS)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Verschlüsselter Zugang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5440680"/>
            <a:ext cx="5257800" cy="932688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83680" y="56875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E4A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7150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2904" y="5605272"/>
            <a:ext cx="4206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Live-Demo &amp; Fazit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Sehen, was läuft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AUFGABENSTELLUNG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Aufgabe &amp; Ziel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03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1828800"/>
            <a:ext cx="64922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Verteilte App,  </a:t>
            </a:r>
            <a:r>
              <a:rPr sz="1550" b="0" i="0">
                <a:solidFill>
                  <a:srgbClr val="D9DFEA"/>
                </a:solidFill>
                <a:latin typeface="Segoe UI"/>
              </a:rPr>
              <a:t>deren Backend aus mehreren gleichwertigen Serviceinstanzen besteht.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Status-Objekte  </a:t>
            </a:r>
            <a:r>
              <a:rPr sz="1550" b="0" i="0">
                <a:solidFill>
                  <a:srgbClr val="D9DFEA"/>
                </a:solidFill>
                <a:latin typeface="Segoe UI"/>
              </a:rPr>
              <a:t>mit Geodaten verteilt setzen, ändern, abrufen, löschen.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Hochverfügbarkeit:  </a:t>
            </a:r>
            <a:r>
              <a:rPr sz="1550" b="0" i="0">
                <a:solidFill>
                  <a:srgbClr val="D9DFEA"/>
                </a:solidFill>
                <a:latin typeface="Segoe UI"/>
              </a:rPr>
              <a:t>ein Einzelausfall darf keinen Ausfall und keinen Datenverlust verursachen.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Replikation hält  </a:t>
            </a:r>
            <a:r>
              <a:rPr sz="1550" b="0" i="0">
                <a:solidFill>
                  <a:srgbClr val="D9DFEA"/>
                </a:solidFill>
                <a:latin typeface="Segoe UI"/>
              </a:rPr>
              <a:t>die Daten über alle Nodes konsistent (Eventual Consistency).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Selbst gebaut:  </a:t>
            </a:r>
            <a:r>
              <a:rPr sz="1550" b="0" i="0">
                <a:solidFill>
                  <a:srgbClr val="D9DFEA"/>
                </a:solidFill>
                <a:latin typeface="Segoe UI"/>
              </a:rPr>
              <a:t>Replikation &amp; Fault-Tolerance ohne fertige Cluster-Library.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Webclient  </a:t>
            </a:r>
            <a:r>
              <a:rPr sz="1550" b="0" i="0">
                <a:solidFill>
                  <a:srgbClr val="D9DFEA"/>
                </a:solidFill>
                <a:latin typeface="Segoe UI"/>
              </a:rPr>
              <a:t>mit grafischer Oberfläche und Kartenansicht der Geodaten.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828800"/>
            <a:ext cx="3977639" cy="2148840"/>
          </a:xfrm>
          <a:prstGeom prst="roundRect">
            <a:avLst>
              <a:gd name="adj" fmla="val 5000"/>
            </a:avLst>
          </a:prstGeom>
          <a:solidFill>
            <a:srgbClr val="0A101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91271" y="1956816"/>
            <a:ext cx="3520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00">
                <a:solidFill>
                  <a:srgbClr val="93A3BC"/>
                </a:solidFill>
                <a:latin typeface="Segoe UI"/>
              </a:rPr>
              <a:t>DAS STATUS-OBJEKT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286000"/>
            <a:ext cx="347472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3A3BC"/>
                </a:solidFill>
                <a:latin typeface="Consolas"/>
              </a:rPr>
              <a:t>{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9F6E4"/>
                </a:solidFill>
                <a:latin typeface="Consolas"/>
              </a:rPr>
              <a:t>  "username"</a:t>
            </a:r>
            <a:r>
              <a:rPr sz="1200" b="0" i="0">
                <a:solidFill>
                  <a:srgbClr val="D9DFEA"/>
                </a:solidFill>
                <a:latin typeface="Consolas"/>
              </a:rPr>
              <a:t>:   "RECON-01",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9F6E4"/>
                </a:solidFill>
                <a:latin typeface="Consolas"/>
              </a:rPr>
              <a:t>  "statustext"</a:t>
            </a:r>
            <a:r>
              <a:rPr sz="1200" b="0" i="0">
                <a:solidFill>
                  <a:srgbClr val="D9DFEA"/>
                </a:solidFill>
                <a:latin typeface="Consolas"/>
              </a:rPr>
              <a:t>: "Am Weg ...",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9F6E4"/>
                </a:solidFill>
                <a:latin typeface="Consolas"/>
              </a:rPr>
              <a:t>  "uhrzeit"</a:t>
            </a:r>
            <a:r>
              <a:rPr sz="1200" b="0" i="0">
                <a:solidFill>
                  <a:srgbClr val="D9DFEA"/>
                </a:solidFill>
                <a:latin typeface="Consolas"/>
              </a:rPr>
              <a:t>:    "2026-…+01:00",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9F6E4"/>
                </a:solidFill>
                <a:latin typeface="Consolas"/>
              </a:rPr>
              <a:t>  "latitude"</a:t>
            </a:r>
            <a:r>
              <a:rPr sz="1200" b="0" i="0">
                <a:solidFill>
                  <a:srgbClr val="D9DFEA"/>
                </a:solidFill>
                <a:latin typeface="Consolas"/>
              </a:rPr>
              <a:t>:   48.215,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9F6E4"/>
                </a:solidFill>
                <a:latin typeface="Consolas"/>
              </a:rPr>
              <a:t>  "longitude"</a:t>
            </a:r>
            <a:r>
              <a:rPr sz="1200" b="0" i="0">
                <a:solidFill>
                  <a:srgbClr val="D9DFEA"/>
                </a:solidFill>
                <a:latin typeface="Consolas"/>
              </a:rPr>
              <a:t>:  16.385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3A3BC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206240"/>
            <a:ext cx="3977639" cy="1828800"/>
          </a:xfrm>
          <a:prstGeom prst="roundRect">
            <a:avLst>
              <a:gd name="adj" fmla="val 7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4370832"/>
            <a:ext cx="3474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 spc="150">
                <a:solidFill>
                  <a:srgbClr val="FBBF24"/>
                </a:solidFill>
                <a:latin typeface="Segoe UI"/>
              </a:rPr>
              <a:t>MUSS-KRITERIEN (NFA)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≥ 2 Nodes · ≥ 10 Clients gleichzeitig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≥ 100 Statusmeldungen vorhalten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Konsistenz spätestens nach 15 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TLS-Verschlüsselung überall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ARCHITEKTUR &amp; KOMMUNIKATION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Blockschaltbild &amp; Kommunikationswege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04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1E2E4A"/>
          </a:solidFill>
          <a:ln w="203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1783080" cy="777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Browser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3A3BC"/>
                </a:solidFill>
                <a:latin typeface="Segoe UI"/>
              </a:rPr>
              <a:t>Client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697480"/>
            <a:ext cx="2331720" cy="12344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2843784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1" i="0">
                <a:solidFill>
                  <a:srgbClr val="F8FAFC"/>
                </a:solidFill>
                <a:latin typeface="Segoe UI"/>
              </a:rPr>
              <a:t>NGINX Loadbalancer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99F6E4"/>
                </a:solidFill>
                <a:latin typeface="Segoe UI"/>
              </a:rPr>
              <a:t>HTTPS · :8443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3A3BC"/>
                </a:solidFill>
                <a:latin typeface="Segoe UI"/>
              </a:rPr>
              <a:t>TLS · Round-Robin · Failover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874519"/>
            <a:ext cx="2240280" cy="9601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StatusNode 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9F6E4"/>
                </a:solidFill>
                <a:latin typeface="Segoe UI"/>
              </a:rPr>
              <a:t>Flask · :5000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017520"/>
            <a:ext cx="2240280" cy="9601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203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StatusNode 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9F6E4"/>
                </a:solidFill>
                <a:latin typeface="Segoe UI"/>
              </a:rPr>
              <a:t>Flask · :5000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160520"/>
            <a:ext cx="2240280" cy="9601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2032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Ins="76200" bIns="25400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StatusNode 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9F6E4"/>
                </a:solidFill>
                <a:latin typeface="Segoe UI"/>
              </a:rPr>
              <a:t>Flask · :5000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SQLite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3314700"/>
            <a:ext cx="777240" cy="0"/>
          </a:xfrm>
          <a:prstGeom prst="line">
            <a:avLst/>
          </a:prstGeom>
          <a:ln w="30480">
            <a:solidFill>
              <a:srgbClr val="FBBF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31720" y="2894076"/>
            <a:ext cx="10515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HTTPS / TLS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577840" y="2354579"/>
            <a:ext cx="1325880" cy="960121"/>
          </a:xfrm>
          <a:prstGeom prst="line">
            <a:avLst/>
          </a:prstGeom>
          <a:ln w="2413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3314700"/>
            <a:ext cx="1325880" cy="182879"/>
          </a:xfrm>
          <a:prstGeom prst="line">
            <a:avLst/>
          </a:prstGeom>
          <a:ln w="2413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3314700"/>
            <a:ext cx="1325880" cy="1325880"/>
          </a:xfrm>
          <a:prstGeom prst="line">
            <a:avLst/>
          </a:prstGeom>
          <a:ln w="2413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13833" y="234510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2DD4BF"/>
                </a:solidFill>
                <a:latin typeface="Segoe UI"/>
              </a:rPr>
              <a:t>HTTP / REST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900" b="0" i="0" dirty="0">
                <a:solidFill>
                  <a:srgbClr val="93A3BC"/>
                </a:solidFill>
                <a:latin typeface="Segoe UI"/>
              </a:rPr>
              <a:t>Round-Robin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0" y="2354579"/>
            <a:ext cx="502920" cy="0"/>
          </a:xfrm>
          <a:prstGeom prst="line">
            <a:avLst/>
          </a:prstGeom>
          <a:ln w="19050">
            <a:solidFill>
              <a:srgbClr val="60A5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0" y="3497579"/>
            <a:ext cx="502920" cy="0"/>
          </a:xfrm>
          <a:prstGeom prst="line">
            <a:avLst/>
          </a:prstGeom>
          <a:ln w="19050">
            <a:solidFill>
              <a:srgbClr val="60A5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4640580"/>
            <a:ext cx="502920" cy="0"/>
          </a:xfrm>
          <a:prstGeom prst="line">
            <a:avLst/>
          </a:prstGeom>
          <a:ln w="19050">
            <a:solidFill>
              <a:srgbClr val="60A5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46920" y="2308860"/>
            <a:ext cx="0" cy="2377440"/>
          </a:xfrm>
          <a:prstGeom prst="line">
            <a:avLst/>
          </a:prstGeom>
          <a:ln w="22860">
            <a:solidFill>
              <a:srgbClr val="60A5F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756648" y="3040379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60A5FA"/>
                </a:solidFill>
                <a:latin typeface="Segoe UI"/>
              </a:rPr>
              <a:t>Peer-Replikation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99F6E4"/>
                </a:solidFill>
                <a:latin typeface="Consolas"/>
              </a:rPr>
              <a:t>POST /replicate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3A3BC"/>
                </a:solidFill>
                <a:latin typeface="Segoe UI"/>
              </a:rPr>
              <a:t>+ Initial-Sync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39" y="4041648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93A3BC"/>
                </a:solidFill>
                <a:latin typeface="Segoe UI"/>
              </a:rPr>
              <a:t>liefert auch das
Frontend (HTML + Leaflet)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53212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20" y="5806440"/>
            <a:ext cx="292608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44168" y="5678424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D9DFEA"/>
                </a:solidFill>
                <a:latin typeface="Segoe UI"/>
              </a:rPr>
              <a:t>HTTPS/TLS – Browser ↔ Loadbalancer (einziger Zugang)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806440"/>
            <a:ext cx="292608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56048" y="5678424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D9DFEA"/>
                </a:solidFill>
                <a:latin typeface="Segoe UI"/>
              </a:rPr>
              <a:t>HTTP/REST – LB → Nodes (Round-Robin + Failover)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5806440"/>
            <a:ext cx="292608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67928" y="5678424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D9DFEA"/>
                </a:solidFill>
                <a:latin typeface="Segoe UI"/>
              </a:rPr>
              <a:t>Replikation – Node ↔ Node, internes Docker-Netz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TECHNOLOGIE-STACK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Womit wir gebaut haben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05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1874519"/>
            <a:ext cx="3493008" cy="1417320"/>
          </a:xfrm>
          <a:prstGeom prst="roundRect">
            <a:avLst>
              <a:gd name="adj" fmla="val 9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42416" y="2148839"/>
            <a:ext cx="182880" cy="18288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2075688"/>
            <a:ext cx="27157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Python + Flask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Die Server-Nodes: REST-API, CRUD, Replikations- &amp; Bootstrap-Logik.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874519"/>
            <a:ext cx="3493008" cy="1417320"/>
          </a:xfrm>
          <a:prstGeom prst="roundRect">
            <a:avLst>
              <a:gd name="adj" fmla="val 9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09744" y="2148839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2075688"/>
            <a:ext cx="27157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NGINX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Loadbalancer: zentrale HTTPS-URL, TLS-Terminierung, Failover.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3493008" cy="1417320"/>
          </a:xfrm>
          <a:prstGeom prst="roundRect">
            <a:avLst>
              <a:gd name="adj" fmla="val 9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77072" y="2148839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87967" y="2075688"/>
            <a:ext cx="27157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SQLite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Lokale Persistenz pro Node – kein gemeinsames, verteiltes DB.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3547872"/>
            <a:ext cx="3493008" cy="1417320"/>
          </a:xfrm>
          <a:prstGeom prst="roundRect">
            <a:avLst>
              <a:gd name="adj" fmla="val 9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2416" y="3822191"/>
            <a:ext cx="182880" cy="182880"/>
          </a:xfrm>
          <a:prstGeom prst="ellipse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3749039"/>
            <a:ext cx="27157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REST / JSON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Kommunikation Client↔LB↔Node und Node↔Node.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3547872"/>
            <a:ext cx="3493008" cy="1417320"/>
          </a:xfrm>
          <a:prstGeom prst="roundRect">
            <a:avLst>
              <a:gd name="adj" fmla="val 9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09744" y="3822191"/>
            <a:ext cx="182880" cy="1828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749039"/>
            <a:ext cx="27157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Leaflet + HTML/JS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Web-Frontend mit interaktiver Kartenansicht der Geodaten.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547872"/>
            <a:ext cx="3493008" cy="1417320"/>
          </a:xfrm>
          <a:prstGeom prst="roundRect">
            <a:avLst>
              <a:gd name="adj" fmla="val 9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77072" y="3822191"/>
            <a:ext cx="182880" cy="1828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7" y="3749039"/>
            <a:ext cx="271576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/>
              </a:rPr>
              <a:t>Docker Compose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Orchestrierung: 3 Nodes + LB, eigenes Netz, Volumes, Healthchecks.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074920"/>
            <a:ext cx="10826496" cy="960120"/>
          </a:xfrm>
          <a:prstGeom prst="roundRect">
            <a:avLst>
              <a:gd name="adj" fmla="val 7000"/>
            </a:avLst>
          </a:prstGeom>
          <a:solidFill>
            <a:srgbClr val="1E2E4A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230368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BBF24"/>
                </a:solidFill>
                <a:latin typeface="Segoe UI"/>
              </a:rPr>
              <a:t>Wichtig laut Angabe:  </a:t>
            </a:r>
            <a:r>
              <a:rPr sz="1350" b="0" i="0">
                <a:solidFill>
                  <a:srgbClr val="D9DFEA"/>
                </a:solidFill>
                <a:latin typeface="Segoe UI"/>
              </a:rPr>
              <a:t>Replikation &amp; Fault-Tolerance sind </a:t>
            </a:r>
            <a:r>
              <a:rPr sz="1350" b="1" i="0">
                <a:solidFill>
                  <a:srgbClr val="F8FAFC"/>
                </a:solidFill>
                <a:latin typeface="Segoe UI"/>
              </a:rPr>
              <a:t>vollständig selbst implementiert</a:t>
            </a:r>
            <a:r>
              <a:rPr sz="1350" b="0" i="0">
                <a:solidFill>
                  <a:srgbClr val="D9DFEA"/>
                </a:solidFill>
                <a:latin typeface="Segoe UI"/>
              </a:rPr>
              <a:t> – keine fertige Replikations-/Cluster-Library. Nur das Frontend nutzt eine Bibliothek (Leaflet).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DATENMODELL &amp; SCHNITTSTELLE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Status-Objekt &amp; REST-API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06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1874519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0A101E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200253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00">
                <a:solidFill>
                  <a:srgbClr val="93A3BC"/>
                </a:solidFill>
                <a:latin typeface="Segoe UI"/>
              </a:rPr>
              <a:t>STATUS  ·  username ist der fachliche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331720"/>
            <a:ext cx="4069080" cy="3547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3A3BC"/>
                </a:solidFill>
                <a:latin typeface="Consolas"/>
              </a:rPr>
              <a:t>{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"username"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  "RECON-01",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   ← Key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"statustext"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"Am Weg zum Einsatz",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"uhrzeit"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   "2026-06-02T12:00:…",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"latitude"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  48.215,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"longitude"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 16.385,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"deleted"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   false,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   ← Tombstone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9F6E4"/>
                </a:solidFill>
                <a:latin typeface="Consolas"/>
              </a:rPr>
              <a:t>  "originNode"</a:t>
            </a:r>
            <a:r>
              <a:rPr sz="1250" b="0" i="0">
                <a:solidFill>
                  <a:srgbClr val="D9DFEA"/>
                </a:solidFill>
                <a:latin typeface="Consolas"/>
              </a:rPr>
              <a:t>: "Node-A"</a:t>
            </a:r>
            <a:r>
              <a:rPr sz="1250" b="0" i="0">
                <a:solidFill>
                  <a:srgbClr val="FBBF24"/>
                </a:solidFill>
                <a:latin typeface="Consolas"/>
              </a:rPr>
              <a:t>   ← Tiebreak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93A3BC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4406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Pro username genau ein aktiver Status. </a:t>
            </a:r>
            <a:r>
              <a:rPr sz="1200" b="1" i="0">
                <a:solidFill>
                  <a:srgbClr val="D9DFEA"/>
                </a:solidFill>
                <a:latin typeface="Segoe UI"/>
              </a:rPr>
              <a:t>Doppelte Einträge sind ausgeschlossen.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28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50">
                <a:solidFill>
                  <a:srgbClr val="2DD4BF"/>
                </a:solidFill>
                <a:latin typeface="Segoe UI"/>
              </a:rPr>
              <a:t>REST-ENDPUNKTE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212848"/>
            <a:ext cx="5897880" cy="493776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61304" y="2304288"/>
            <a:ext cx="841248" cy="310896"/>
          </a:xfrm>
          <a:prstGeom prst="roundRect">
            <a:avLst>
              <a:gd name="adj" fmla="val 40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61304" y="2313432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Segoe U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4942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/status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setzen / ändern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816352"/>
            <a:ext cx="5897880" cy="493776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61304" y="2907792"/>
            <a:ext cx="841248" cy="310896"/>
          </a:xfrm>
          <a:prstGeom prst="roundRect">
            <a:avLst>
              <a:gd name="adj" fmla="val 40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61304" y="2916936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DD4BF"/>
                </a:solidFill>
                <a:latin typeface="Segoe UI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5292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/status  ·  /status/&lt;user&gt;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Feed / einzeln lesen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419856"/>
            <a:ext cx="5897880" cy="493776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61304" y="3511296"/>
            <a:ext cx="841248" cy="310896"/>
          </a:xfrm>
          <a:prstGeom prst="roundRect">
            <a:avLst>
              <a:gd name="adj" fmla="val 40000"/>
            </a:avLst>
          </a:prstGeom>
          <a:noFill/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61304" y="3520440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Segoe UI"/>
              </a:rP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45643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/status/&lt;user&gt;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löschen → Tombstone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4023360"/>
            <a:ext cx="5897880" cy="493776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61304" y="4114800"/>
            <a:ext cx="841248" cy="310896"/>
          </a:xfrm>
          <a:prstGeom prst="roundRect">
            <a:avLst>
              <a:gd name="adj" fmla="val 40000"/>
            </a:avLst>
          </a:prstGeom>
          <a:noFill/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61304" y="4123944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5993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/replicate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Peer-Replikation (intern)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626864"/>
            <a:ext cx="5897880" cy="493776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861304" y="4718304"/>
            <a:ext cx="841248" cy="310896"/>
          </a:xfrm>
          <a:prstGeom prst="roundRect">
            <a:avLst>
              <a:gd name="adj" fmla="val 40000"/>
            </a:avLst>
          </a:prstGeom>
          <a:noFill/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61304" y="4727448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Segoe UI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634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/internal/snapshot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Initial-Sync (intern)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5230368"/>
            <a:ext cx="5897880" cy="493776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861304" y="5321808"/>
            <a:ext cx="841248" cy="310896"/>
          </a:xfrm>
          <a:prstGeom prst="roundRect">
            <a:avLst>
              <a:gd name="adj" fmla="val 40000"/>
            </a:avLst>
          </a:prstGeom>
          <a:noFill/>
          <a:ln w="17780">
            <a:solidFill>
              <a:srgbClr val="93A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61304" y="5330952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93A3BC"/>
                </a:solidFill>
                <a:latin typeface="Segoe UI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26694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/health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Status &amp;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REPLIKATION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Push-Replikation nach jedem Schreibzugriff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07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214884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295144"/>
            <a:ext cx="217627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1  Client-Write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3A3BC"/>
                </a:solidFill>
                <a:latin typeface="Segoe UI"/>
              </a:rPr>
              <a:t>POST /status  an eine Node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55847" y="2674620"/>
            <a:ext cx="329184" cy="0"/>
          </a:xfrm>
          <a:prstGeom prst="line">
            <a:avLst/>
          </a:prstGeom>
          <a:ln w="2794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12463" y="214884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203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1" y="2295144"/>
            <a:ext cx="217627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2  Lokal speichern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3A3BC"/>
                </a:solidFill>
                <a:latin typeface="Segoe UI"/>
              </a:rPr>
              <a:t>In-Memory-Cache  + SQLite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81928" y="2674620"/>
            <a:ext cx="329184" cy="0"/>
          </a:xfrm>
          <a:prstGeom prst="line">
            <a:avLst/>
          </a:prstGeom>
          <a:ln w="2794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38544" y="214884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2032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9712" y="2295144"/>
            <a:ext cx="217627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3  Push an Peers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3A3BC"/>
                </a:solidFill>
                <a:latin typeface="Segoe UI"/>
              </a:rPr>
              <a:t>POST /replicate  an A · B ·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08007" y="2674620"/>
            <a:ext cx="329185" cy="0"/>
          </a:xfrm>
          <a:prstGeom prst="line">
            <a:avLst/>
          </a:prstGeom>
          <a:ln w="2794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64624" y="214884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17253D"/>
          </a:solidFill>
          <a:ln w="2032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65792" y="2295144"/>
            <a:ext cx="217627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8FAFC"/>
                </a:solidFill>
                <a:latin typeface="Segoe UI"/>
              </a:rPr>
              <a:t>4  Peers prüfen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3A3BC"/>
                </a:solidFill>
                <a:latin typeface="Segoe UI"/>
              </a:rPr>
              <a:t>Übernehmen nur,  wenn neuer (LWW)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3703320"/>
            <a:ext cx="5285232" cy="2286000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904487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Löschen = repliziertes Tombstone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DELETE schreibt deleted: true statt zu entfernen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Das Tombstone wird wie ein Update repliziert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Verhindert „Wiederauferstehung" durch alte Replikate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▸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Auch Bootstrapping merged Tombstones mit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703320"/>
            <a:ext cx="5285232" cy="2286000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0256" y="3904487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Selbst gebaut – kein fertiges Cluster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99F6E4"/>
                </a:solidFill>
                <a:latin typeface="Consolas"/>
              </a:rPr>
              <a:t>replication.py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– Push an Peers + Pending-Queue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99F6E4"/>
                </a:solidFill>
                <a:latin typeface="Consolas"/>
              </a:rPr>
              <a:t>models.py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– Validierung + Last-Writer-Wins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99F6E4"/>
                </a:solidFill>
                <a:latin typeface="Consolas"/>
              </a:rPr>
              <a:t>storage.py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– SQLite + In-Memory-Cache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250" b="1" i="0">
                <a:solidFill>
                  <a:srgbClr val="99F6E4"/>
                </a:solidFill>
                <a:latin typeface="Consolas"/>
              </a:rPr>
              <a:t>bootstrap.py  </a:t>
            </a:r>
            <a:r>
              <a:rPr sz="1250" b="0" i="0">
                <a:solidFill>
                  <a:srgbClr val="D9DFEA"/>
                </a:solidFill>
                <a:latin typeface="Segoe UI"/>
              </a:rPr>
              <a:t>– Initial-Sync / Grace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KONSISTENZ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Eventual Consistency &amp; Last-Writer-Wins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08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Eventual Consistency: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alle Nodes konvergieren – Ziel der Angabe ≤ 15 s, durch Push meist &lt; 1 s.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Last-Writer-Wins: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es gewinnt der jüngere uhrzeit-Zeitstempel.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Gleichstand?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Bei exakt gleicher Zeit entscheidet originNode (lexikografisch) – deterministisch.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Konvergenz: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egal in welcher Reihenfolge Updates eintreffen, alle Nodes landen beim selben Gewinner.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Eine Regel überall: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Client-Writes, empfangene Replikate und Initial-Sync nutzen dieselbe Prüfung.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874519"/>
            <a:ext cx="4800600" cy="4114800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04888" y="204825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spc="120">
                <a:solidFill>
                  <a:srgbClr val="FBBF24"/>
                </a:solidFill>
                <a:latin typeface="Segoe UI"/>
              </a:rPr>
              <a:t>BEISPIEL  ·  KONFLIKT AUF RECON-01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04888" y="2606040"/>
            <a:ext cx="420624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87768" y="2715768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Update @ Node-A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9F6E4"/>
                </a:solidFill>
                <a:latin typeface="Consolas"/>
              </a:rPr>
              <a:t>uhrzeit 12:00:05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30632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3A3BC"/>
                </a:solidFill>
                <a:latin typeface="Segoe UI"/>
              </a:rPr>
              <a:t>„Am Ziel"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697480"/>
            <a:ext cx="1143000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DD4BF"/>
                </a:solidFill>
                <a:latin typeface="Segoe UI"/>
              </a:rPr>
              <a:t>GEWINNT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888" y="3611880"/>
            <a:ext cx="420624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19050">
            <a:solidFill>
              <a:srgbClr val="FB71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87768" y="3721608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Update @ Node-B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9F6E4"/>
                </a:solidFill>
                <a:latin typeface="Consolas"/>
              </a:rPr>
              <a:t>uhrzeit 12:00:02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40690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93A3BC"/>
                </a:solidFill>
                <a:latin typeface="Segoe UI"/>
              </a:rPr>
              <a:t>„Unterwegs"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89720" y="3520440"/>
            <a:ext cx="0" cy="64008"/>
          </a:xfrm>
          <a:prstGeom prst="line">
            <a:avLst/>
          </a:prstGeom>
          <a:ln w="17780">
            <a:solidFill>
              <a:srgbClr val="93A3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04888" y="470916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9DFEA"/>
                </a:solidFill>
                <a:latin typeface="Segoe UI"/>
              </a:rPr>
              <a:t>→ 12:00:05 ist jünger ⇒ </a:t>
            </a:r>
            <a:r>
              <a:rPr sz="1300" b="1" i="0">
                <a:solidFill>
                  <a:srgbClr val="F8FAFC"/>
                </a:solidFill>
                <a:latin typeface="Segoe UI"/>
              </a:rPr>
              <a:t>„Am Ziel" gewinnt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93A3BC"/>
                </a:solidFill>
                <a:latin typeface="Segoe UI"/>
              </a:rPr>
              <a:t>Das ältere Update wird auf jeder Node verworfen – auch wenn es später eintrifft.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FEHLERTOLERANZ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Drei Mechanismen gegen den Einzelausfall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09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1874519"/>
            <a:ext cx="3493008" cy="3703320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6384" y="1874519"/>
            <a:ext cx="3493008" cy="713232"/>
          </a:xfrm>
          <a:prstGeom prst="roundRect">
            <a:avLst>
              <a:gd name="adj" fmla="val 8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2331720"/>
            <a:ext cx="3493008" cy="256032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0704" y="21396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89888" y="2075688"/>
            <a:ext cx="276148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NGINX Failover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761488"/>
            <a:ext cx="2990087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Node fällt aus → NGINX leitet auf verbleibende Nodes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proxy_next_upstream, auch für POST/DELETE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Gleiche URL für den Nutzer – kein Umschalten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LWW macht ein erneut gesendetes Write sicher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1874519"/>
            <a:ext cx="3493008" cy="3703320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53712" y="1874519"/>
            <a:ext cx="3493008" cy="713232"/>
          </a:xfrm>
          <a:prstGeom prst="roundRect">
            <a:avLst>
              <a:gd name="adj" fmla="val 8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53712" y="2331720"/>
            <a:ext cx="3493008" cy="256032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28032" y="2139696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216" y="2075688"/>
            <a:ext cx="276148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Retry-Queue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761488"/>
            <a:ext cx="2990087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Peer kurz nicht erreichbar? Client-Write bleibt OK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Update wandert in eine Pending-Queue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Hintergrund-Worker liefert es später nach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Pro Peer+User nur das neueste Update (LWW)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874519"/>
            <a:ext cx="3493008" cy="3703320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1874519"/>
            <a:ext cx="3493008" cy="713232"/>
          </a:xfrm>
          <a:prstGeom prst="roundRect">
            <a:avLst>
              <a:gd name="adj" fmla="val 8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21040" y="2331720"/>
            <a:ext cx="3493008" cy="256032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95360" y="2139696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24544" y="2075688"/>
            <a:ext cx="276148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F8FAFC"/>
                </a:solidFill>
                <a:latin typeface="Segoe UI"/>
              </a:rPr>
              <a:t>Bootstrapping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761488"/>
            <a:ext cx="2990087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60A5FA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Neue/zurückkehrende Node startet in Grace Period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60A5FA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Zieht Snapshots der Peers, merged per LWW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60A5FA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Client-Endpunkte antworten solange mit 503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50" b="1" i="0">
                <a:solidFill>
                  <a:srgbClr val="60A5FA"/>
                </a:solidFill>
                <a:latin typeface="Segoe UI"/>
              </a:rPr>
              <a:t>›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Danach state = ready – aktueller Stand 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742432"/>
            <a:ext cx="10826496" cy="457200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76986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Ergebnis:  </a:t>
            </a:r>
            <a:r>
              <a:rPr sz="1300" b="0" i="0">
                <a:solidFill>
                  <a:srgbClr val="D9DFEA"/>
                </a:solidFill>
                <a:latin typeface="Segoe UI"/>
              </a:rPr>
              <a:t>Ein Einzelausfall bleibt für den Nutzer unsichtbar – kein Ausfall, kein Datenverlust </a:t>
            </a:r>
            <a:r>
              <a:rPr sz="1300" b="1" i="0">
                <a:solidFill>
                  <a:srgbClr val="F8FAFC"/>
                </a:solidFill>
                <a:latin typeface="Segoe UI"/>
              </a:rPr>
              <a:t>(n+1).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SICHERHEIT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Transportverschlüsselung (TLS)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10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" y="1920240"/>
            <a:ext cx="59436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HTTPS-only: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der Loadbalancer hat genau einen HTTPS-Listener, kein HTTP.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TLS-Terminierung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am Loadbalancer (Port 8443) – ein einziger Zugang.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Verschlüsselt: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Frontend ↔ LB und alle REST-Schnittstellen nach außen.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Selbstsigniertes Zertifikat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(laut Angabe erlaubt) → erwartbare Browser-Warnung.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Isoliert:  </a:t>
            </a:r>
            <a:r>
              <a:rPr sz="1450" b="0" i="0">
                <a:solidFill>
                  <a:srgbClr val="D9DFEA"/>
                </a:solidFill>
                <a:latin typeface="Segoe UI"/>
              </a:rPr>
              <a:t>Nodes sind am Host nicht exposed – Replikation nur im internen Docker-Netz.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920240"/>
            <a:ext cx="4526280" cy="3977639"/>
          </a:xfrm>
          <a:prstGeom prst="roundRect">
            <a:avLst>
              <a:gd name="adj" fmla="val 8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224028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33172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Segoe UI"/>
              </a:rPr>
              <a:t>Browser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45168" y="2971800"/>
            <a:ext cx="0" cy="484632"/>
          </a:xfrm>
          <a:prstGeom prst="line">
            <a:avLst/>
          </a:prstGeom>
          <a:ln w="30480">
            <a:solidFill>
              <a:srgbClr val="FBBF24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80" y="3108960"/>
            <a:ext cx="1874519" cy="36576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Segoe UI"/>
              </a:rPr>
              <a:t>🔒  HTTPS / TLS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61188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 w="2286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3675887"/>
            <a:ext cx="3611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NGINX · TLS-Terminierung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50" b="0" i="0">
                <a:solidFill>
                  <a:srgbClr val="99F6E4"/>
                </a:solidFill>
                <a:latin typeface="Consolas"/>
              </a:rPr>
              <a:t>:8443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45168" y="4343400"/>
            <a:ext cx="0" cy="411480"/>
          </a:xfrm>
          <a:prstGeom prst="line">
            <a:avLst/>
          </a:prstGeom>
          <a:ln w="25400">
            <a:solidFill>
              <a:srgbClr val="93A3BC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43800" y="4892040"/>
            <a:ext cx="3611880" cy="777240"/>
          </a:xfrm>
          <a:prstGeom prst="roundRect">
            <a:avLst>
              <a:gd name="adj" fmla="val 10000"/>
            </a:avLst>
          </a:prstGeom>
          <a:noFill/>
          <a:ln w="1651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4956048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D9DFEA"/>
                </a:solidFill>
                <a:latin typeface="Segoe UI"/>
              </a:rPr>
              <a:t>Node A · B · C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 i="1">
                <a:solidFill>
                  <a:srgbClr val="93A3BC"/>
                </a:solidFill>
                <a:latin typeface="Segoe UI"/>
              </a:rPr>
              <a:t>internes, isoliertes Docker-Netz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57055" y="-1828800"/>
            <a:ext cx="4572000" cy="4572000"/>
          </a:xfrm>
          <a:prstGeom prst="ellipse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82296" cy="8412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457200"/>
            <a:ext cx="1060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 spc="220">
                <a:solidFill>
                  <a:srgbClr val="2DD4BF"/>
                </a:solidFill>
                <a:latin typeface="Segoe UI"/>
              </a:rPr>
              <a:t>DEMONSTRATION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Segoe UI"/>
              </a:rPr>
              <a:t>Live-Demo – was wir zeigen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64224"/>
            <a:ext cx="11064240" cy="16459"/>
          </a:xfrm>
          <a:prstGeom prst="rect">
            <a:avLst/>
          </a:prstGeom>
          <a:solidFill>
            <a:srgbClr val="2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3A3BC"/>
                </a:solidFill>
                <a:latin typeface="Segoe UI"/>
              </a:rPr>
              <a:t>Verteiltes Commandcenter</a:t>
            </a:r>
            <a:r>
              <a:rPr sz="1000" b="0" i="0">
                <a:solidFill>
                  <a:srgbClr val="93A3BC"/>
                </a:solidFill>
                <a:latin typeface="Segoe UI"/>
              </a:rPr>
              <a:t>   ·   TEVS Abschlussprojekt · Gruppe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37376"/>
            <a:ext cx="2743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 dirty="0">
                <a:solidFill>
                  <a:srgbClr val="93A3BC"/>
                </a:solidFill>
                <a:latin typeface="Segoe UI"/>
              </a:rPr>
              <a:t>11 / 1</a:t>
            </a:r>
            <a:r>
              <a:rPr lang="de-AT" sz="1000" b="1" i="0" dirty="0">
                <a:solidFill>
                  <a:srgbClr val="93A3BC"/>
                </a:solidFill>
                <a:latin typeface="Segoe UI"/>
              </a:rPr>
              <a:t>1</a:t>
            </a:r>
            <a:endParaRPr sz="1000" b="1" i="0" dirty="0">
              <a:solidFill>
                <a:srgbClr val="93A3BC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97135" y="9144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1E2E4A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874519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6384" y="1874519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74519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92807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docker compose up --build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3 Nodes + Loadbalancer starten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441448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384" y="2441448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414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59736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https://localhost:8443 öffnen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Zertifikat akzeptieren, Frontend lädt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3008376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6384" y="3008376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008376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26664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Status absenden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Koordinaten per Kartenklick → Marker erscheint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3575304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6384" y="3575304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75304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593592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„Letzte Backend-Antwort" beobachten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wechselnde Node zeigt Round-Robin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4142232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86384" y="4142232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142232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160520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docker compose stop node-a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eine Node fällt aus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" y="4709160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86384" y="4709160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709160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727448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Segoe UI"/>
              </a:rPr>
              <a:t>Weiterarbeiten – gleiche URL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Failover: Feed &amp; Schreiben laufen weiter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" y="5276088"/>
            <a:ext cx="7315200" cy="475488"/>
          </a:xfrm>
          <a:prstGeom prst="roundRect">
            <a:avLst>
              <a:gd name="adj" fmla="val 12000"/>
            </a:avLst>
          </a:prstGeom>
          <a:solidFill>
            <a:srgbClr val="17253D"/>
          </a:solidFill>
          <a:ln w="12700">
            <a:solidFill>
              <a:srgbClr val="2C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86384" y="5276088"/>
            <a:ext cx="109728" cy="47548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2760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294376"/>
            <a:ext cx="6446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8FAFC"/>
                </a:solidFill>
                <a:latin typeface="Consolas"/>
              </a:rPr>
              <a:t>docker compose start node-a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3A3BC"/>
                </a:solidFill>
                <a:latin typeface="Segoe UI"/>
              </a:rPr>
              <a:t>Initial-Sync holt den aktuellen Stand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874519"/>
            <a:ext cx="3291840" cy="3977639"/>
          </a:xfrm>
          <a:prstGeom prst="roundRect">
            <a:avLst>
              <a:gd name="adj" fmla="val 8000"/>
            </a:avLst>
          </a:prstGeom>
          <a:solidFill>
            <a:srgbClr val="1E2E4A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77072" y="2084831"/>
            <a:ext cx="27889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Worauf achten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Marker erscheint sofort nach dem Absenden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Feed zeigt alle Meldungen aller Nodes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Beim Node-Stopp: keine Fehlermeldung für den Nutzer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Node-Header wechselt → Last-Writer-Wins hält konsistent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DD4BF"/>
                </a:solidFill>
                <a:latin typeface="Segoe UI"/>
              </a:rPr>
              <a:t>✓  </a:t>
            </a:r>
            <a:r>
              <a:rPr sz="1200" b="0" i="0">
                <a:solidFill>
                  <a:srgbClr val="D9DFEA"/>
                </a:solidFill>
                <a:latin typeface="Segoe UI"/>
              </a:rPr>
              <a:t>Diese Slide ist zugleich unser Backup-Drehbuch.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</Words>
  <Application>Microsoft Office PowerPoint</Application>
  <PresentationFormat>Breitbild</PresentationFormat>
  <Paragraphs>247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Consolas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Haselbacher</cp:lastModifiedBy>
  <cp:revision>2</cp:revision>
  <dcterms:created xsi:type="dcterms:W3CDTF">2013-01-27T09:14:16Z</dcterms:created>
  <dcterms:modified xsi:type="dcterms:W3CDTF">2026-06-08T15:56:00Z</dcterms:modified>
  <cp:category/>
</cp:coreProperties>
</file>